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451" r:id="rId2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erry Rackley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913D"/>
    <a:srgbClr val="75AF5B"/>
    <a:srgbClr val="5A8DAE"/>
    <a:srgbClr val="404141"/>
    <a:srgbClr val="A1C8E0"/>
    <a:srgbClr val="CF363F"/>
    <a:srgbClr val="F9B54C"/>
    <a:srgbClr val="CF4E53"/>
    <a:srgbClr val="378786"/>
    <a:srgbClr val="1B55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381" autoAdjust="0"/>
    <p:restoredTop sz="95698" autoAdjust="0"/>
  </p:normalViewPr>
  <p:slideViewPr>
    <p:cSldViewPr>
      <p:cViewPr varScale="1">
        <p:scale>
          <a:sx n="154" d="100"/>
          <a:sy n="154" d="100"/>
        </p:scale>
        <p:origin x="696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5A0AFC2-E85E-6648-BE96-66B85723CF1D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B68DD2-2387-F74C-8B75-F2C7D40D5F3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84818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B9AE29FE-7BD1-0242-8F6C-64CEB36C4564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4C34F12D-01EF-3844-8F9E-AB2F02D0BE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88540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CE30463-7D8D-BE40-B4B8-C2829143FC3C}" type="slidenum">
              <a:rPr lang="en-US">
                <a:latin typeface="Calibri" charset="0"/>
              </a:rPr>
              <a:pPr eaLnBrk="1" hangingPunct="1"/>
              <a:t>1</a:t>
            </a:fld>
            <a:endParaRPr lang="en-US" dirty="0">
              <a:latin typeface="Calibri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8042C2-454E-944F-954B-728295F3E895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EA161-DA88-6A46-BFA3-9B9498DBBF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283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5976E2-2F16-5B4B-A5C6-F870A5529A56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1EC29-F640-E746-B9C6-7FE60C24EA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47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6FE41-1643-3049-B785-8697842D263F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F5E54-89C8-BF44-A9BE-E4C36D8BA3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642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17F5C-3902-D349-B66A-DFD32C296CFE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62747D-8356-5247-904B-FCA5F83C9C5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34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64D54-C9F5-A44F-A745-1C6E40675435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92EB6-6AC2-5844-9126-468A7A3677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32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AD4CC-0DB5-A341-9DA3-B2A95B3E690A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BAB52-2529-954B-946B-354C890F7E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940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0B8D7-D62E-5D46-8CF4-E2CFF52B67A5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E4E55-45F2-2842-85D0-0648427DE75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7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EA379-0096-7C44-B2FF-0D870485B4C4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0625C-E9FC-224F-AEC6-4DD60E3302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06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D3D77C-7A54-D34B-820E-3229E4124D7B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5943A-1AB9-CB4C-B810-EF77E917A87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20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E0EB2-9701-244E-A336-889CB55EB0A0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0E336-3BA7-8A45-BBCD-A7AD9AEAA00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45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09099-24F9-D446-8B03-128E3900670E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112322-A0D5-BB4D-ADE0-80BE664F5F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033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alpha val="20000"/>
              </a:schemeClr>
            </a:gs>
            <a:gs pos="90000">
              <a:schemeClr val="bg2">
                <a:lumMod val="90000"/>
                <a:alpha val="24000"/>
              </a:schemeClr>
            </a:gs>
            <a:gs pos="100000">
              <a:schemeClr val="bg2">
                <a:lumMod val="75000"/>
                <a:alpha val="54000"/>
              </a:schemeClr>
            </a:gs>
            <a:gs pos="52000">
              <a:schemeClr val="bg2">
                <a:alpha val="1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9D5251B3-25EA-3D40-BC58-3CF1CABA5549}" type="datetime1">
              <a:rPr lang="en-US"/>
              <a:pPr>
                <a:defRPr/>
              </a:pPr>
              <a:t>10/11/18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0F7ADF0B-67AF-7846-988B-E72DD4C8F0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mandmetric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entagon 25"/>
          <p:cNvSpPr/>
          <p:nvPr/>
        </p:nvSpPr>
        <p:spPr>
          <a:xfrm>
            <a:off x="914400" y="1962150"/>
            <a:ext cx="1738800" cy="1295400"/>
          </a:xfrm>
          <a:prstGeom prst="homePlate">
            <a:avLst>
              <a:gd name="adj" fmla="val 15169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6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2514600" y="1962150"/>
            <a:ext cx="2131200" cy="1295400"/>
          </a:xfrm>
          <a:prstGeom prst="chevron">
            <a:avLst>
              <a:gd name="adj" fmla="val 16460"/>
            </a:avLst>
          </a:prstGeom>
          <a:solidFill>
            <a:srgbClr val="F8F8F8"/>
          </a:solidFill>
          <a:ln>
            <a:solidFill>
              <a:srgbClr val="FC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6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4495800" y="1962150"/>
            <a:ext cx="1828800" cy="1295400"/>
          </a:xfrm>
          <a:prstGeom prst="chevron">
            <a:avLst>
              <a:gd name="adj" fmla="val 16460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6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9" name="Chevron 28"/>
          <p:cNvSpPr/>
          <p:nvPr/>
        </p:nvSpPr>
        <p:spPr>
          <a:xfrm>
            <a:off x="6172200" y="1962150"/>
            <a:ext cx="1524000" cy="1295400"/>
          </a:xfrm>
          <a:prstGeom prst="chevron">
            <a:avLst>
              <a:gd name="adj" fmla="val 16460"/>
            </a:avLst>
          </a:prstGeom>
          <a:solidFill>
            <a:srgbClr val="F8F8F8"/>
          </a:solidFill>
          <a:ln>
            <a:solidFill>
              <a:srgbClr val="FC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6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7543800" y="1962150"/>
            <a:ext cx="1524000" cy="1295400"/>
          </a:xfrm>
          <a:prstGeom prst="chevron">
            <a:avLst>
              <a:gd name="adj" fmla="val 16460"/>
            </a:avLst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6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143000" y="1989951"/>
            <a:ext cx="1447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Online Research – Pleased to Find Info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(Google Searches, Analyst Firms, Blogs, Tech Reviews, etc.)</a:t>
            </a:r>
          </a:p>
        </p:txBody>
      </p:sp>
      <p:sp>
        <p:nvSpPr>
          <p:cNvPr id="75" name="Oval 74"/>
          <p:cNvSpPr/>
          <p:nvPr/>
        </p:nvSpPr>
        <p:spPr>
          <a:xfrm>
            <a:off x="990600" y="2075550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bIns="4320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3000" y="2324785"/>
            <a:ext cx="1600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Website Visit - Excited to Get Resources                          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(Sign Up to Get Content - Video, Webinars, Whitepapers, Case Studies, etc.</a:t>
            </a:r>
          </a:p>
        </p:txBody>
      </p:sp>
      <p:sp>
        <p:nvSpPr>
          <p:cNvPr id="77" name="Oval 76"/>
          <p:cNvSpPr/>
          <p:nvPr/>
        </p:nvSpPr>
        <p:spPr>
          <a:xfrm>
            <a:off x="990600" y="2380350"/>
            <a:ext cx="115200" cy="115200"/>
          </a:xfrm>
          <a:prstGeom prst="ellipse">
            <a:avLst/>
          </a:prstGeom>
          <a:solidFill>
            <a:srgbClr val="75A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bIns="5400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3000" y="2629585"/>
            <a:ext cx="1447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Call from Sales Representative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- Annoyed        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Typically annoyed as not ready for sales call, ask to be called back in a few months.</a:t>
            </a:r>
          </a:p>
        </p:txBody>
      </p:sp>
      <p:sp>
        <p:nvSpPr>
          <p:cNvPr id="79" name="Oval 78"/>
          <p:cNvSpPr/>
          <p:nvPr/>
        </p:nvSpPr>
        <p:spPr>
          <a:xfrm>
            <a:off x="990600" y="2724150"/>
            <a:ext cx="115200" cy="115200"/>
          </a:xfrm>
          <a:prstGeom prst="ellipse">
            <a:avLst/>
          </a:prstGeom>
          <a:solidFill>
            <a:srgbClr val="CF3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9144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" y="2934385"/>
            <a:ext cx="13716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Live Chat with Us – Disappointed 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Initial questions answered promptly, but wish we would reveal pricing on live chat.</a:t>
            </a:r>
          </a:p>
        </p:txBody>
      </p:sp>
      <p:sp>
        <p:nvSpPr>
          <p:cNvPr id="81" name="Oval 80"/>
          <p:cNvSpPr/>
          <p:nvPr/>
        </p:nvSpPr>
        <p:spPr>
          <a:xfrm>
            <a:off x="990600" y="3013200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71799" y="1989951"/>
            <a:ext cx="15240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Talk to Other People – Get Excited About Us                     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(Find Facebook Fans, Twitter Followers, LinkedIn Connections, Quora Answers, etc.)</a:t>
            </a:r>
          </a:p>
        </p:txBody>
      </p:sp>
      <p:sp>
        <p:nvSpPr>
          <p:cNvPr id="105" name="Oval 104"/>
          <p:cNvSpPr/>
          <p:nvPr/>
        </p:nvSpPr>
        <p:spPr>
          <a:xfrm>
            <a:off x="2819400" y="2075550"/>
            <a:ext cx="115200" cy="115200"/>
          </a:xfrm>
          <a:prstGeom prst="ellipse">
            <a:avLst/>
          </a:prstGeom>
          <a:solidFill>
            <a:srgbClr val="75A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71800" y="2324785"/>
            <a:ext cx="1524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Product Demo with Sales – Overwhelmed    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(Happy with product but get stressed out that they are not ready to start this initiative yet.</a:t>
            </a:r>
          </a:p>
        </p:txBody>
      </p:sp>
      <p:sp>
        <p:nvSpPr>
          <p:cNvPr id="107" name="Oval 106"/>
          <p:cNvSpPr/>
          <p:nvPr/>
        </p:nvSpPr>
        <p:spPr>
          <a:xfrm>
            <a:off x="2819400" y="2380350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71799" y="2629585"/>
            <a:ext cx="16086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Lead Nurturing Email Campaign – Upset      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Feel they get too many emails from us too soon and 20% unsubscribe from all emails from us.</a:t>
            </a:r>
          </a:p>
        </p:txBody>
      </p:sp>
      <p:sp>
        <p:nvSpPr>
          <p:cNvPr id="109" name="Oval 108"/>
          <p:cNvSpPr/>
          <p:nvPr/>
        </p:nvSpPr>
        <p:spPr>
          <a:xfrm>
            <a:off x="2819400" y="2724150"/>
            <a:ext cx="115200" cy="115200"/>
          </a:xfrm>
          <a:prstGeom prst="ellipse">
            <a:avLst/>
          </a:prstGeom>
          <a:solidFill>
            <a:srgbClr val="CF3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971800" y="2934385"/>
            <a:ext cx="1524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Speak to Analyst Firm – Reassured           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Re-engage with us happily once they have assurance from reputable firm.</a:t>
            </a:r>
          </a:p>
        </p:txBody>
      </p:sp>
      <p:sp>
        <p:nvSpPr>
          <p:cNvPr id="111" name="Oval 110"/>
          <p:cNvSpPr/>
          <p:nvPr/>
        </p:nvSpPr>
        <p:spPr>
          <a:xfrm>
            <a:off x="2819400" y="3013200"/>
            <a:ext cx="115200" cy="115200"/>
          </a:xfrm>
          <a:prstGeom prst="ellipse">
            <a:avLst/>
          </a:prstGeom>
          <a:solidFill>
            <a:srgbClr val="75A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952999" y="1989206"/>
            <a:ext cx="12192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Get Buy-In from CFO – Stressed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Don’t know how to predict ROI/TCO and we don’t help them much.</a:t>
            </a:r>
          </a:p>
        </p:txBody>
      </p:sp>
      <p:sp>
        <p:nvSpPr>
          <p:cNvPr id="130" name="Oval 129"/>
          <p:cNvSpPr/>
          <p:nvPr/>
        </p:nvSpPr>
        <p:spPr>
          <a:xfrm>
            <a:off x="4800600" y="2074805"/>
            <a:ext cx="115200" cy="115200"/>
          </a:xfrm>
          <a:prstGeom prst="ellipse">
            <a:avLst/>
          </a:prstGeom>
          <a:solidFill>
            <a:srgbClr val="CF3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953000" y="2324040"/>
            <a:ext cx="13716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Select Vendor – Relieved</a:t>
            </a:r>
          </a:p>
          <a:p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(After many demos and internal meetings, happy to select a vendor.</a:t>
            </a:r>
          </a:p>
        </p:txBody>
      </p:sp>
      <p:sp>
        <p:nvSpPr>
          <p:cNvPr id="132" name="Oval 131"/>
          <p:cNvSpPr/>
          <p:nvPr/>
        </p:nvSpPr>
        <p:spPr>
          <a:xfrm>
            <a:off x="4800600" y="2379605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952999" y="2628840"/>
            <a:ext cx="12065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Negotiate Contract – Conflicted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Want to get best possible pricing but don’t want to sign a multi-year deal.</a:t>
            </a:r>
          </a:p>
        </p:txBody>
      </p:sp>
      <p:sp>
        <p:nvSpPr>
          <p:cNvPr id="134" name="Oval 133"/>
          <p:cNvSpPr/>
          <p:nvPr/>
        </p:nvSpPr>
        <p:spPr>
          <a:xfrm>
            <a:off x="4800600" y="2723405"/>
            <a:ext cx="115200" cy="115200"/>
          </a:xfrm>
          <a:prstGeom prst="ellipse">
            <a:avLst/>
          </a:prstGeom>
          <a:solidFill>
            <a:srgbClr val="CF3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553199" y="1989951"/>
            <a:ext cx="9144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Kick-Off Call – Excited                       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Enthused and ready to get project going.</a:t>
            </a:r>
          </a:p>
        </p:txBody>
      </p:sp>
      <p:sp>
        <p:nvSpPr>
          <p:cNvPr id="153" name="Oval 152"/>
          <p:cNvSpPr/>
          <p:nvPr/>
        </p:nvSpPr>
        <p:spPr>
          <a:xfrm>
            <a:off x="6400800" y="2075550"/>
            <a:ext cx="115200" cy="115200"/>
          </a:xfrm>
          <a:prstGeom prst="ellipse">
            <a:avLst/>
          </a:prstGeom>
          <a:solidFill>
            <a:srgbClr val="75A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553200" y="2324785"/>
            <a:ext cx="1066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Phase 1 – Pleased</a:t>
            </a:r>
          </a:p>
          <a:p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Work with customer success team to get phase 1 launched.</a:t>
            </a:r>
          </a:p>
        </p:txBody>
      </p:sp>
      <p:sp>
        <p:nvSpPr>
          <p:cNvPr id="155" name="Oval 154"/>
          <p:cNvSpPr/>
          <p:nvPr/>
        </p:nvSpPr>
        <p:spPr>
          <a:xfrm>
            <a:off x="6400800" y="2380350"/>
            <a:ext cx="115200" cy="115200"/>
          </a:xfrm>
          <a:prstGeom prst="ellipse">
            <a:avLst/>
          </a:prstGeom>
          <a:solidFill>
            <a:srgbClr val="75A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553199" y="2629585"/>
            <a:ext cx="12065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Integrations – Disillusioned          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Disappointed that integrations are more costly than anticipated.</a:t>
            </a:r>
          </a:p>
        </p:txBody>
      </p:sp>
      <p:sp>
        <p:nvSpPr>
          <p:cNvPr id="157" name="Oval 156"/>
          <p:cNvSpPr/>
          <p:nvPr/>
        </p:nvSpPr>
        <p:spPr>
          <a:xfrm>
            <a:off x="6400800" y="2724150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000999" y="1989951"/>
            <a:ext cx="9144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Support – Satisfied                       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Getting help but want faster response time.</a:t>
            </a:r>
          </a:p>
        </p:txBody>
      </p:sp>
      <p:sp>
        <p:nvSpPr>
          <p:cNvPr id="179" name="Oval 178"/>
          <p:cNvSpPr/>
          <p:nvPr/>
        </p:nvSpPr>
        <p:spPr>
          <a:xfrm>
            <a:off x="7848600" y="2075550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001000" y="2324785"/>
            <a:ext cx="9144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Renewal – Content</a:t>
            </a:r>
          </a:p>
          <a:p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Unhappy with price increase on renewal but happy with added features and value.</a:t>
            </a:r>
          </a:p>
        </p:txBody>
      </p:sp>
      <p:sp>
        <p:nvSpPr>
          <p:cNvPr id="181" name="Oval 180"/>
          <p:cNvSpPr/>
          <p:nvPr/>
        </p:nvSpPr>
        <p:spPr>
          <a:xfrm>
            <a:off x="7848600" y="2380350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20111" y="100367"/>
            <a:ext cx="4589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4041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Journey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" y="1276350"/>
            <a:ext cx="762000" cy="304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750" dirty="0">
                <a:solidFill>
                  <a:schemeClr val="bg1"/>
                </a:solidFill>
                <a:latin typeface="Arial"/>
                <a:cs typeface="Arial"/>
              </a:rPr>
              <a:t>BUYING PROCESS</a:t>
            </a:r>
          </a:p>
        </p:txBody>
      </p:sp>
      <p:sp>
        <p:nvSpPr>
          <p:cNvPr id="8" name="Pentagon 7"/>
          <p:cNvSpPr/>
          <p:nvPr/>
        </p:nvSpPr>
        <p:spPr>
          <a:xfrm>
            <a:off x="914400" y="1276350"/>
            <a:ext cx="1676400" cy="30480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rgbClr val="404141"/>
                </a:solidFill>
                <a:latin typeface="Arial"/>
                <a:cs typeface="Arial"/>
              </a:rPr>
              <a:t>DISCOVERY/RESEARCH        </a:t>
            </a:r>
            <a:r>
              <a:rPr lang="en-US" sz="600" dirty="0">
                <a:solidFill>
                  <a:srgbClr val="404141"/>
                </a:solidFill>
                <a:latin typeface="Arial"/>
                <a:cs typeface="Arial"/>
              </a:rPr>
              <a:t>(30-60 Days)</a:t>
            </a:r>
          </a:p>
        </p:txBody>
      </p:sp>
      <p:sp>
        <p:nvSpPr>
          <p:cNvPr id="9" name="Chevron 8"/>
          <p:cNvSpPr/>
          <p:nvPr/>
        </p:nvSpPr>
        <p:spPr>
          <a:xfrm>
            <a:off x="2514600" y="1276350"/>
            <a:ext cx="2057400" cy="30480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rgbClr val="404141"/>
                </a:solidFill>
                <a:latin typeface="Arial"/>
                <a:cs typeface="Arial"/>
              </a:rPr>
              <a:t>EVALUATION/COMPARISON                 </a:t>
            </a:r>
            <a:r>
              <a:rPr lang="en-US" sz="600" dirty="0">
                <a:solidFill>
                  <a:srgbClr val="404141"/>
                </a:solidFill>
                <a:latin typeface="Arial"/>
                <a:cs typeface="Arial"/>
              </a:rPr>
              <a:t>(30-90 Days) </a:t>
            </a:r>
          </a:p>
        </p:txBody>
      </p:sp>
      <p:sp>
        <p:nvSpPr>
          <p:cNvPr id="10" name="Chevron 9"/>
          <p:cNvSpPr/>
          <p:nvPr/>
        </p:nvSpPr>
        <p:spPr>
          <a:xfrm>
            <a:off x="4495800" y="1276350"/>
            <a:ext cx="1752600" cy="30480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rgbClr val="404141"/>
                </a:solidFill>
                <a:latin typeface="Arial"/>
                <a:cs typeface="Arial"/>
              </a:rPr>
              <a:t>DECISION/PURCHASE        </a:t>
            </a:r>
            <a:r>
              <a:rPr lang="en-US" sz="600" dirty="0">
                <a:solidFill>
                  <a:srgbClr val="404141"/>
                </a:solidFill>
                <a:latin typeface="Arial"/>
                <a:cs typeface="Arial"/>
              </a:rPr>
              <a:t>(14-30 Days) </a:t>
            </a:r>
          </a:p>
        </p:txBody>
      </p:sp>
      <p:sp>
        <p:nvSpPr>
          <p:cNvPr id="11" name="Chevron 10"/>
          <p:cNvSpPr/>
          <p:nvPr/>
        </p:nvSpPr>
        <p:spPr>
          <a:xfrm>
            <a:off x="6172200" y="1276350"/>
            <a:ext cx="1447800" cy="30480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rgbClr val="404141"/>
                </a:solidFill>
                <a:latin typeface="Arial"/>
                <a:cs typeface="Arial"/>
              </a:rPr>
              <a:t>IMPLEMENTATION </a:t>
            </a:r>
            <a:r>
              <a:rPr lang="en-US" sz="600" dirty="0">
                <a:solidFill>
                  <a:srgbClr val="404141"/>
                </a:solidFill>
                <a:latin typeface="Arial"/>
                <a:cs typeface="Arial"/>
              </a:rPr>
              <a:t>(14-21 Days) </a:t>
            </a:r>
          </a:p>
        </p:txBody>
      </p:sp>
      <p:sp>
        <p:nvSpPr>
          <p:cNvPr id="12" name="Chevron 11"/>
          <p:cNvSpPr/>
          <p:nvPr/>
        </p:nvSpPr>
        <p:spPr>
          <a:xfrm>
            <a:off x="7543800" y="1276350"/>
            <a:ext cx="1532400" cy="30480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rgbClr val="404141"/>
                </a:solidFill>
                <a:latin typeface="Arial"/>
                <a:cs typeface="Arial"/>
              </a:rPr>
              <a:t>SUPPORT/RENEW </a:t>
            </a:r>
          </a:p>
          <a:p>
            <a:pPr algn="ctr"/>
            <a:r>
              <a:rPr lang="en-US" sz="600" dirty="0">
                <a:solidFill>
                  <a:srgbClr val="404141"/>
                </a:solidFill>
                <a:latin typeface="Arial"/>
                <a:cs typeface="Arial"/>
              </a:rPr>
              <a:t>(Lifetime Average: 3 Years)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" y="1962150"/>
            <a:ext cx="762000" cy="1295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750" dirty="0">
                <a:solidFill>
                  <a:schemeClr val="bg1"/>
                </a:solidFill>
                <a:latin typeface="Arial"/>
                <a:cs typeface="Arial"/>
              </a:rPr>
              <a:t>TOUCH-POINTS &amp; EMOTIONAL 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" y="3297600"/>
            <a:ext cx="762000" cy="533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750" dirty="0">
                <a:solidFill>
                  <a:schemeClr val="bg1"/>
                </a:solidFill>
                <a:latin typeface="Arial"/>
                <a:cs typeface="Arial"/>
              </a:rPr>
              <a:t>CUSTOMER THOUGHTS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" y="3870000"/>
            <a:ext cx="762000" cy="6096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  <a:latin typeface="Arial"/>
                <a:cs typeface="Arial"/>
              </a:rPr>
              <a:t>OVERALL CUSTOMER EXPERIENCE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" y="1620000"/>
            <a:ext cx="762000" cy="304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750" dirty="0">
                <a:solidFill>
                  <a:schemeClr val="bg1"/>
                </a:solidFill>
                <a:latin typeface="Arial"/>
                <a:cs typeface="Arial"/>
              </a:rPr>
              <a:t>CUSTOMER GOALS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" y="666750"/>
            <a:ext cx="2362200" cy="304800"/>
          </a:xfrm>
          <a:prstGeom prst="roundRect">
            <a:avLst/>
          </a:prstGeom>
          <a:solidFill>
            <a:srgbClr val="378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>
                <a:solidFill>
                  <a:schemeClr val="bg1"/>
                </a:solidFill>
                <a:latin typeface="Arial"/>
                <a:cs typeface="Arial"/>
              </a:rPr>
              <a:t>Easily find information &amp; resources online to help educate our organization on best practices.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438150"/>
            <a:ext cx="2895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rgbClr val="378786"/>
                </a:solidFill>
                <a:latin typeface="Arial"/>
                <a:cs typeface="Arial"/>
              </a:rPr>
              <a:t>Customer Expectations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6" y="1047750"/>
            <a:ext cx="2895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rgbClr val="404141"/>
                </a:solidFill>
                <a:latin typeface="Arial"/>
                <a:cs typeface="Arial"/>
              </a:rPr>
              <a:t>Customer Experience Journey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666750"/>
            <a:ext cx="1905000" cy="304800"/>
          </a:xfrm>
          <a:prstGeom prst="roundRect">
            <a:avLst/>
          </a:prstGeom>
          <a:solidFill>
            <a:srgbClr val="378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>
                <a:solidFill>
                  <a:schemeClr val="bg1"/>
                </a:solidFill>
                <a:latin typeface="Arial"/>
                <a:cs typeface="Arial"/>
              </a:rPr>
              <a:t>Vendors have information online about their solutions, pricing and differentiation.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5800" y="666750"/>
            <a:ext cx="1600200" cy="304800"/>
          </a:xfrm>
          <a:prstGeom prst="roundRect">
            <a:avLst/>
          </a:prstGeom>
          <a:solidFill>
            <a:srgbClr val="378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>
                <a:solidFill>
                  <a:schemeClr val="bg1"/>
                </a:solidFill>
                <a:latin typeface="Arial"/>
                <a:cs typeface="Arial"/>
              </a:rPr>
              <a:t>Can speak to customers in our industry about their experience.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666750"/>
            <a:ext cx="1295400" cy="304800"/>
          </a:xfrm>
          <a:prstGeom prst="roundRect">
            <a:avLst/>
          </a:prstGeom>
          <a:solidFill>
            <a:srgbClr val="378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>
                <a:solidFill>
                  <a:schemeClr val="bg1"/>
                </a:solidFill>
                <a:latin typeface="Arial"/>
                <a:cs typeface="Arial"/>
              </a:rPr>
              <a:t>Documentation is available and clear regarding install.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666750"/>
            <a:ext cx="1447800" cy="304800"/>
          </a:xfrm>
          <a:prstGeom prst="roundRect">
            <a:avLst/>
          </a:prstGeom>
          <a:solidFill>
            <a:srgbClr val="378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>
                <a:solidFill>
                  <a:schemeClr val="bg1"/>
                </a:solidFill>
                <a:latin typeface="Arial"/>
                <a:cs typeface="Arial"/>
              </a:rPr>
              <a:t>Online support community, FAQ; service-level-agreement.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6400"/>
            <a:ext cx="7920000" cy="18000"/>
          </a:xfrm>
          <a:prstGeom prst="rect">
            <a:avLst/>
          </a:prstGeom>
          <a:gradFill flip="none" rotWithShape="1">
            <a:gsLst>
              <a:gs pos="55000">
                <a:srgbClr val="1B5569"/>
              </a:gs>
              <a:gs pos="0">
                <a:srgbClr val="378786"/>
              </a:gs>
            </a:gsLst>
            <a:lin ang="0" scaled="1"/>
            <a:tileRect/>
          </a:gra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7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447800" y="1152000"/>
            <a:ext cx="7617600" cy="18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7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4400" y="3294000"/>
            <a:ext cx="1540800" cy="533400"/>
          </a:xfrm>
          <a:prstGeom prst="rect">
            <a:avLst/>
          </a:prstGeom>
          <a:noFill/>
          <a:ln w="3175" cmpd="sng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Why isn’t there more info available online for solutions for our industry?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Do we have budget for this project?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How long will this take to implement?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Who are the key players in the market?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What are our competitors doing about this?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3294000"/>
            <a:ext cx="1905000" cy="533400"/>
          </a:xfrm>
          <a:prstGeom prst="rect">
            <a:avLst/>
          </a:prstGeom>
          <a:noFill/>
          <a:ln w="3175" cmpd="sng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What are our requirements?  Do we need to do this now?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Who should be on our short-list of potential vendors?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What features and functions are available?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How will this integrate with our existing infrastructure?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What do industry analysts think of each vendor?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How do I build the business case for this purchase?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endParaRPr lang="en-US" sz="5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495800" y="3294000"/>
            <a:ext cx="1600200" cy="533400"/>
          </a:xfrm>
          <a:prstGeom prst="rect">
            <a:avLst/>
          </a:prstGeom>
          <a:noFill/>
          <a:ln w="3175" cmpd="sng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Will this vendor be around in 5 years to support us?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What is the expected ROI/TCO for this program?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What does post-purchase support look like?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Are there any options for payment terms?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Will we be locked into a long-term contract?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Are there any reference customers in our industry?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endParaRPr lang="en-US" sz="5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543800" y="3294000"/>
            <a:ext cx="1524000" cy="533400"/>
          </a:xfrm>
          <a:prstGeom prst="rect">
            <a:avLst/>
          </a:prstGeom>
          <a:noFill/>
          <a:ln w="3175" cmpd="sng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Why don’t you contact us before auto-renewing our account?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 have to wait on hold WAY too long to speak with a customer support rep.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Why do I have to pay extra for support?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Can we get a discount for a 3-year deal?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294000"/>
            <a:ext cx="1310400" cy="533400"/>
          </a:xfrm>
          <a:prstGeom prst="rect">
            <a:avLst/>
          </a:prstGeom>
          <a:noFill/>
          <a:ln w="3175" cmpd="sng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How do we need to staff this program?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What is timeframe to go-live?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Where are the support documents?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 thought the implementation would be easier than this!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Our business users better adopt this.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3867150"/>
            <a:ext cx="81534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marL="7200">
              <a:spcBef>
                <a:spcPts val="0"/>
              </a:spcBef>
            </a:pPr>
            <a:endParaRPr lang="en-US" sz="500" dirty="0">
              <a:solidFill>
                <a:srgbClr val="4A452A"/>
              </a:solidFill>
              <a:latin typeface="Arial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2558" y="3871880"/>
            <a:ext cx="533400" cy="636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600" b="1" dirty="0">
                <a:solidFill>
                  <a:srgbClr val="75AF5B"/>
                </a:solidFill>
                <a:latin typeface="Arial"/>
                <a:cs typeface="Arial"/>
              </a:rPr>
              <a:t>Pleased</a:t>
            </a:r>
          </a:p>
          <a:p>
            <a:pPr>
              <a:lnSpc>
                <a:spcPct val="120000"/>
              </a:lnSpc>
            </a:pPr>
            <a:endParaRPr lang="en-US" sz="600" b="1" dirty="0">
              <a:solidFill>
                <a:schemeClr val="accent3">
                  <a:lumMod val="7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n-US" sz="600" b="1" dirty="0">
                <a:solidFill>
                  <a:srgbClr val="F9B54C"/>
                </a:solidFill>
                <a:latin typeface="Arial"/>
                <a:cs typeface="Arial"/>
              </a:rPr>
              <a:t>Satisfied</a:t>
            </a:r>
          </a:p>
          <a:p>
            <a:pPr>
              <a:lnSpc>
                <a:spcPct val="120000"/>
              </a:lnSpc>
            </a:pPr>
            <a:endParaRPr lang="en-US" sz="600" b="1" dirty="0">
              <a:solidFill>
                <a:schemeClr val="accent3">
                  <a:lumMod val="7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n-US" sz="600" b="1" dirty="0">
                <a:solidFill>
                  <a:srgbClr val="CF363F"/>
                </a:solidFill>
                <a:latin typeface="Arial"/>
                <a:cs typeface="Arial"/>
              </a:rPr>
              <a:t>Upset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1620000"/>
            <a:ext cx="1540800" cy="306000"/>
          </a:xfrm>
          <a:prstGeom prst="rect">
            <a:avLst/>
          </a:prstGeom>
          <a:noFill/>
          <a:ln w="3175" cmpd="sng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Learn best practices for top companies</a:t>
            </a:r>
          </a:p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Find information &amp; resources that help educate and prepare company for a new project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4600" y="1620000"/>
            <a:ext cx="1905000" cy="306000"/>
          </a:xfrm>
          <a:prstGeom prst="rect">
            <a:avLst/>
          </a:prstGeom>
          <a:noFill/>
          <a:ln w="3175" cmpd="sng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Build Business Case for formal project approval</a:t>
            </a:r>
          </a:p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Determine requirements and short-list of vendors</a:t>
            </a:r>
          </a:p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Create RFP and invite vendors to present solutions</a:t>
            </a:r>
          </a:p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endParaRPr lang="en-US" sz="5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495800" y="1620000"/>
            <a:ext cx="1615800" cy="306000"/>
          </a:xfrm>
          <a:prstGeom prst="rect">
            <a:avLst/>
          </a:prstGeom>
          <a:noFill/>
          <a:ln w="3175" cmpd="sng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Determine ROI/TCO for project</a:t>
            </a:r>
          </a:p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Select a vendor to conduct pilot program</a:t>
            </a:r>
          </a:p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Negotiate contract with favorable terms</a:t>
            </a:r>
          </a:p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endParaRPr lang="en-US" sz="5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543800" y="1620000"/>
            <a:ext cx="1524000" cy="306000"/>
          </a:xfrm>
          <a:prstGeom prst="rect">
            <a:avLst/>
          </a:prstGeom>
          <a:noFill/>
          <a:ln w="3175" cmpd="sng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Get timely resolution to support requests</a:t>
            </a:r>
          </a:p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Minimize price increases at renewal</a:t>
            </a:r>
          </a:p>
          <a:p>
            <a:pPr marL="36000">
              <a:spcBef>
                <a:spcPts val="0"/>
              </a:spcBef>
            </a:pPr>
            <a:endParaRPr lang="en-US" sz="5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72200" y="1620000"/>
            <a:ext cx="1310400" cy="306000"/>
          </a:xfrm>
          <a:prstGeom prst="rect">
            <a:avLst/>
          </a:prstGeom>
          <a:noFill/>
          <a:ln w="3175" cmpd="sng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Get system up-and-running</a:t>
            </a:r>
          </a:p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Integrate other applications</a:t>
            </a:r>
          </a:p>
          <a:p>
            <a:pPr marL="129600" indent="-93600">
              <a:spcBef>
                <a:spcPts val="0"/>
              </a:spcBef>
              <a:buFont typeface="+mj-lt"/>
              <a:buAutoNum type="arabicPeriod"/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Train users and drive adoption</a:t>
            </a:r>
          </a:p>
        </p:txBody>
      </p:sp>
      <p:sp>
        <p:nvSpPr>
          <p:cNvPr id="43" name="Oval 42"/>
          <p:cNvSpPr/>
          <p:nvPr/>
        </p:nvSpPr>
        <p:spPr>
          <a:xfrm>
            <a:off x="1447800" y="4101532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4" name="Oval 43"/>
          <p:cNvSpPr/>
          <p:nvPr/>
        </p:nvSpPr>
        <p:spPr>
          <a:xfrm>
            <a:off x="2399400" y="4214932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45" name="Oval 44"/>
          <p:cNvSpPr/>
          <p:nvPr/>
        </p:nvSpPr>
        <p:spPr>
          <a:xfrm>
            <a:off x="1789800" y="3949132"/>
            <a:ext cx="115200" cy="115200"/>
          </a:xfrm>
          <a:prstGeom prst="ellipse">
            <a:avLst/>
          </a:prstGeom>
          <a:solidFill>
            <a:srgbClr val="75A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7" name="Oval 46"/>
          <p:cNvSpPr/>
          <p:nvPr/>
        </p:nvSpPr>
        <p:spPr>
          <a:xfrm>
            <a:off x="2018400" y="4291132"/>
            <a:ext cx="115200" cy="115200"/>
          </a:xfrm>
          <a:prstGeom prst="ellipse">
            <a:avLst/>
          </a:prstGeom>
          <a:solidFill>
            <a:srgbClr val="CF3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48" name="Oval 47"/>
          <p:cNvSpPr/>
          <p:nvPr/>
        </p:nvSpPr>
        <p:spPr>
          <a:xfrm>
            <a:off x="5904600" y="4253932"/>
            <a:ext cx="115200" cy="115200"/>
          </a:xfrm>
          <a:prstGeom prst="ellipse">
            <a:avLst/>
          </a:prstGeom>
          <a:solidFill>
            <a:srgbClr val="CF3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49" name="Oval 48"/>
          <p:cNvSpPr/>
          <p:nvPr/>
        </p:nvSpPr>
        <p:spPr>
          <a:xfrm>
            <a:off x="3237600" y="4138732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5371200" y="4062532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52" name="Oval 51"/>
          <p:cNvSpPr/>
          <p:nvPr/>
        </p:nvSpPr>
        <p:spPr>
          <a:xfrm>
            <a:off x="2780400" y="3949132"/>
            <a:ext cx="115200" cy="115200"/>
          </a:xfrm>
          <a:prstGeom prst="ellipse">
            <a:avLst/>
          </a:prstGeom>
          <a:solidFill>
            <a:srgbClr val="75A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53" name="Oval 52"/>
          <p:cNvSpPr/>
          <p:nvPr/>
        </p:nvSpPr>
        <p:spPr>
          <a:xfrm>
            <a:off x="6361800" y="3949132"/>
            <a:ext cx="115200" cy="115200"/>
          </a:xfrm>
          <a:prstGeom prst="ellipse">
            <a:avLst/>
          </a:prstGeom>
          <a:solidFill>
            <a:srgbClr val="75A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75129" y="3878256"/>
            <a:ext cx="591000" cy="636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600" b="1" dirty="0">
                <a:solidFill>
                  <a:srgbClr val="75AF5B"/>
                </a:solidFill>
                <a:latin typeface="Arial"/>
                <a:cs typeface="Arial"/>
              </a:rPr>
              <a:t>Pleased</a:t>
            </a:r>
          </a:p>
          <a:p>
            <a:pPr>
              <a:lnSpc>
                <a:spcPct val="120000"/>
              </a:lnSpc>
            </a:pPr>
            <a:endParaRPr lang="en-US" sz="600" b="1" dirty="0">
              <a:solidFill>
                <a:schemeClr val="accent3">
                  <a:lumMod val="7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n-US" sz="600" b="1" dirty="0">
                <a:solidFill>
                  <a:srgbClr val="F9B54C"/>
                </a:solidFill>
                <a:latin typeface="Arial"/>
                <a:cs typeface="Arial"/>
              </a:rPr>
              <a:t>Satisfied</a:t>
            </a:r>
          </a:p>
          <a:p>
            <a:pPr>
              <a:lnSpc>
                <a:spcPct val="120000"/>
              </a:lnSpc>
            </a:pPr>
            <a:endParaRPr lang="en-US" sz="600" b="1" dirty="0">
              <a:solidFill>
                <a:schemeClr val="accent3">
                  <a:lumMod val="7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n-US" sz="600" b="1" dirty="0">
                <a:solidFill>
                  <a:srgbClr val="CF363F"/>
                </a:solidFill>
                <a:latin typeface="Arial"/>
                <a:cs typeface="Arial"/>
              </a:rPr>
              <a:t>Upset</a:t>
            </a:r>
          </a:p>
        </p:txBody>
      </p:sp>
      <p:sp>
        <p:nvSpPr>
          <p:cNvPr id="58" name="Oval 57"/>
          <p:cNvSpPr/>
          <p:nvPr/>
        </p:nvSpPr>
        <p:spPr>
          <a:xfrm>
            <a:off x="8419200" y="4062532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016" y="4476750"/>
            <a:ext cx="2895600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rgbClr val="75913D"/>
                </a:solidFill>
                <a:latin typeface="Arial"/>
                <a:cs typeface="Arial"/>
              </a:rPr>
              <a:t>Recommendations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0600" y="4581000"/>
            <a:ext cx="8085600" cy="18000"/>
          </a:xfrm>
          <a:prstGeom prst="rect">
            <a:avLst/>
          </a:prstGeom>
          <a:gradFill flip="none" rotWithShape="1">
            <a:gsLst>
              <a:gs pos="55000">
                <a:srgbClr val="75AF5B"/>
              </a:gs>
              <a:gs pos="0">
                <a:srgbClr val="75913D"/>
              </a:gs>
            </a:gsLst>
            <a:lin ang="0" scaled="1"/>
            <a:tileRect/>
          </a:gra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700">
              <a:solidFill>
                <a:srgbClr val="800000"/>
              </a:solidFill>
              <a:latin typeface="Arial"/>
              <a:cs typeface="Aria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6200" y="4705350"/>
            <a:ext cx="762000" cy="381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750" dirty="0">
                <a:solidFill>
                  <a:schemeClr val="bg1"/>
                </a:solidFill>
                <a:latin typeface="Arial"/>
                <a:cs typeface="Arial"/>
              </a:rPr>
              <a:t>IDEAS TO IMPROVE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4704150"/>
            <a:ext cx="1540800" cy="382200"/>
          </a:xfrm>
          <a:prstGeom prst="rect">
            <a:avLst/>
          </a:prstGeom>
          <a:solidFill>
            <a:srgbClr val="75AF5B"/>
          </a:solidFill>
          <a:ln w="3175" cmpd="sng">
            <a:noFill/>
            <a:prstDash val="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Provide industry ‘solutions’ and case studies on corporate website.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Create business case template for buyers to use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Don’t assign to sales so quickly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14600" y="4704150"/>
            <a:ext cx="1905000" cy="382200"/>
          </a:xfrm>
          <a:prstGeom prst="rect">
            <a:avLst/>
          </a:prstGeom>
          <a:solidFill>
            <a:srgbClr val="75AF5B"/>
          </a:solidFill>
          <a:ln w="3175" cmpd="sng">
            <a:noFill/>
            <a:prstDash val="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Develop an RFP and buyer’s guide to facilitate buying process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Simplify demo to reduce stress and anxiety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License Analyst firm research study or vendor profile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Reduce number or frequency of nurturing emails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95800" y="4704150"/>
            <a:ext cx="1615800" cy="382200"/>
          </a:xfrm>
          <a:prstGeom prst="rect">
            <a:avLst/>
          </a:prstGeom>
          <a:solidFill>
            <a:srgbClr val="75AF5B"/>
          </a:solidFill>
          <a:ln w="3175" cmpd="sng">
            <a:noFill/>
            <a:prstDash val="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Get SAS70 certification to remedy security concerns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Build ROI/TCO calculator to facilitate buy-in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Consider monthly billing with no contract option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endParaRPr lang="en-US" sz="500" dirty="0">
              <a:solidFill>
                <a:srgbClr val="404141"/>
              </a:solidFill>
              <a:latin typeface="Arial"/>
              <a:cs typeface="Aria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543800" y="4704150"/>
            <a:ext cx="1524000" cy="382200"/>
          </a:xfrm>
          <a:prstGeom prst="rect">
            <a:avLst/>
          </a:prstGeom>
          <a:solidFill>
            <a:srgbClr val="75AF5B"/>
          </a:solidFill>
          <a:ln w="3175" cmpd="sng">
            <a:noFill/>
            <a:prstDash val="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Audit customer support resolution times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Develop a service-level-agreement that aligns to our brand promise of efficient service.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72200" y="4704150"/>
            <a:ext cx="1310400" cy="382200"/>
          </a:xfrm>
          <a:prstGeom prst="rect">
            <a:avLst/>
          </a:prstGeom>
          <a:solidFill>
            <a:srgbClr val="75AF5B"/>
          </a:solidFill>
          <a:ln w="3175" cmpd="sng">
            <a:noFill/>
            <a:prstDash val="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Improve implementation guide and AP documentation I for custom integrations</a:t>
            </a:r>
          </a:p>
          <a:p>
            <a:pPr marL="72000" indent="-64800">
              <a:spcBef>
                <a:spcPts val="0"/>
              </a:spcBef>
              <a:buFont typeface="Wingdings" charset="2"/>
              <a:buChar char="§"/>
            </a:pPr>
            <a:r>
              <a:rPr lang="en-US" sz="500" dirty="0">
                <a:solidFill>
                  <a:schemeClr val="bg1"/>
                </a:solidFill>
                <a:latin typeface="Arial"/>
                <a:cs typeface="Arial"/>
              </a:rPr>
              <a:t>Build “Quick-Start” consulting offering</a:t>
            </a:r>
          </a:p>
        </p:txBody>
      </p:sp>
      <p:cxnSp>
        <p:nvCxnSpPr>
          <p:cNvPr id="91" name="Straight Connector 90"/>
          <p:cNvCxnSpPr>
            <a:cxnSpLocks/>
            <a:stCxn id="43" idx="6"/>
            <a:endCxn id="45" idx="1"/>
          </p:cNvCxnSpPr>
          <p:nvPr/>
        </p:nvCxnSpPr>
        <p:spPr>
          <a:xfrm flipV="1">
            <a:off x="1563000" y="3966003"/>
            <a:ext cx="243671" cy="193129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45" idx="5"/>
            <a:endCxn id="47" idx="1"/>
          </p:cNvCxnSpPr>
          <p:nvPr/>
        </p:nvCxnSpPr>
        <p:spPr>
          <a:xfrm>
            <a:off x="1888129" y="4047461"/>
            <a:ext cx="147142" cy="260542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47" idx="6"/>
            <a:endCxn id="44" idx="3"/>
          </p:cNvCxnSpPr>
          <p:nvPr/>
        </p:nvCxnSpPr>
        <p:spPr>
          <a:xfrm flipV="1">
            <a:off x="2133600" y="4313261"/>
            <a:ext cx="282671" cy="35471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3771000" y="4253932"/>
            <a:ext cx="115200" cy="115200"/>
          </a:xfrm>
          <a:prstGeom prst="ellipse">
            <a:avLst/>
          </a:prstGeom>
          <a:solidFill>
            <a:srgbClr val="CF3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113" name="Oval 112"/>
          <p:cNvSpPr/>
          <p:nvPr/>
        </p:nvSpPr>
        <p:spPr>
          <a:xfrm>
            <a:off x="4228200" y="4025332"/>
            <a:ext cx="115200" cy="115200"/>
          </a:xfrm>
          <a:prstGeom prst="ellipse">
            <a:avLst/>
          </a:prstGeom>
          <a:solidFill>
            <a:srgbClr val="75A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8</a:t>
            </a:r>
          </a:p>
        </p:txBody>
      </p:sp>
      <p:cxnSp>
        <p:nvCxnSpPr>
          <p:cNvPr id="114" name="Straight Connector 113"/>
          <p:cNvCxnSpPr>
            <a:stCxn id="44" idx="6"/>
            <a:endCxn id="52" idx="3"/>
          </p:cNvCxnSpPr>
          <p:nvPr/>
        </p:nvCxnSpPr>
        <p:spPr>
          <a:xfrm flipV="1">
            <a:off x="2514600" y="4047461"/>
            <a:ext cx="282671" cy="225071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52" idx="5"/>
            <a:endCxn id="49" idx="1"/>
          </p:cNvCxnSpPr>
          <p:nvPr/>
        </p:nvCxnSpPr>
        <p:spPr>
          <a:xfrm>
            <a:off x="2878729" y="4047461"/>
            <a:ext cx="375742" cy="108142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49" idx="6"/>
            <a:endCxn id="112" idx="2"/>
          </p:cNvCxnSpPr>
          <p:nvPr/>
        </p:nvCxnSpPr>
        <p:spPr>
          <a:xfrm>
            <a:off x="3352800" y="4196332"/>
            <a:ext cx="418200" cy="115200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12" idx="6"/>
            <a:endCxn id="113" idx="3"/>
          </p:cNvCxnSpPr>
          <p:nvPr/>
        </p:nvCxnSpPr>
        <p:spPr>
          <a:xfrm flipV="1">
            <a:off x="3886200" y="4123661"/>
            <a:ext cx="358871" cy="187871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4761600" y="4253932"/>
            <a:ext cx="115200" cy="115200"/>
          </a:xfrm>
          <a:prstGeom prst="ellipse">
            <a:avLst/>
          </a:prstGeom>
          <a:solidFill>
            <a:srgbClr val="CF3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9</a:t>
            </a:r>
          </a:p>
        </p:txBody>
      </p:sp>
      <p:cxnSp>
        <p:nvCxnSpPr>
          <p:cNvPr id="138" name="Straight Connector 137"/>
          <p:cNvCxnSpPr>
            <a:stCxn id="113" idx="5"/>
            <a:endCxn id="137" idx="2"/>
          </p:cNvCxnSpPr>
          <p:nvPr/>
        </p:nvCxnSpPr>
        <p:spPr>
          <a:xfrm>
            <a:off x="4326529" y="4123661"/>
            <a:ext cx="435071" cy="187871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>
            <a:stCxn id="137" idx="6"/>
            <a:endCxn id="50" idx="2"/>
          </p:cNvCxnSpPr>
          <p:nvPr/>
        </p:nvCxnSpPr>
        <p:spPr>
          <a:xfrm flipV="1">
            <a:off x="4876800" y="4120132"/>
            <a:ext cx="494400" cy="191400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50" idx="5"/>
            <a:endCxn id="48" idx="2"/>
          </p:cNvCxnSpPr>
          <p:nvPr/>
        </p:nvCxnSpPr>
        <p:spPr>
          <a:xfrm>
            <a:off x="5469529" y="4160861"/>
            <a:ext cx="435071" cy="150671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6858000" y="3949132"/>
            <a:ext cx="115200" cy="115200"/>
          </a:xfrm>
          <a:prstGeom prst="ellipse">
            <a:avLst/>
          </a:prstGeom>
          <a:solidFill>
            <a:srgbClr val="75A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tlCol="0" anchor="ctr"/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165" name="Oval 164"/>
          <p:cNvSpPr/>
          <p:nvPr/>
        </p:nvSpPr>
        <p:spPr>
          <a:xfrm>
            <a:off x="7276200" y="4062532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14</a:t>
            </a:r>
          </a:p>
        </p:txBody>
      </p:sp>
      <p:cxnSp>
        <p:nvCxnSpPr>
          <p:cNvPr id="166" name="Straight Connector 165"/>
          <p:cNvCxnSpPr>
            <a:stCxn id="48" idx="7"/>
            <a:endCxn id="53" idx="3"/>
          </p:cNvCxnSpPr>
          <p:nvPr/>
        </p:nvCxnSpPr>
        <p:spPr>
          <a:xfrm flipV="1">
            <a:off x="6002929" y="4047461"/>
            <a:ext cx="375742" cy="223342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>
            <a:stCxn id="53" idx="6"/>
            <a:endCxn id="164" idx="2"/>
          </p:cNvCxnSpPr>
          <p:nvPr/>
        </p:nvCxnSpPr>
        <p:spPr>
          <a:xfrm>
            <a:off x="6477000" y="4006732"/>
            <a:ext cx="381000" cy="0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>
            <a:stCxn id="164" idx="6"/>
            <a:endCxn id="165" idx="1"/>
          </p:cNvCxnSpPr>
          <p:nvPr/>
        </p:nvCxnSpPr>
        <p:spPr>
          <a:xfrm>
            <a:off x="6973200" y="4006732"/>
            <a:ext cx="319871" cy="72671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7885800" y="4138732"/>
            <a:ext cx="115200" cy="115200"/>
          </a:xfrm>
          <a:prstGeom prst="ellipse">
            <a:avLst/>
          </a:prstGeom>
          <a:solidFill>
            <a:srgbClr val="F9B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36000" rIns="91440" bIns="432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600" dirty="0">
                <a:solidFill>
                  <a:schemeClr val="bg1"/>
                </a:solidFill>
                <a:latin typeface="Arial"/>
                <a:cs typeface="Arial"/>
              </a:rPr>
              <a:t>15</a:t>
            </a:r>
          </a:p>
        </p:txBody>
      </p:sp>
      <p:cxnSp>
        <p:nvCxnSpPr>
          <p:cNvPr id="183" name="Straight Connector 182"/>
          <p:cNvCxnSpPr>
            <a:stCxn id="165" idx="6"/>
            <a:endCxn id="182" idx="2"/>
          </p:cNvCxnSpPr>
          <p:nvPr/>
        </p:nvCxnSpPr>
        <p:spPr>
          <a:xfrm>
            <a:off x="7391400" y="4120132"/>
            <a:ext cx="494400" cy="76200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182" idx="6"/>
            <a:endCxn id="58" idx="2"/>
          </p:cNvCxnSpPr>
          <p:nvPr/>
        </p:nvCxnSpPr>
        <p:spPr>
          <a:xfrm flipV="1">
            <a:off x="8001000" y="4120132"/>
            <a:ext cx="418200" cy="76200"/>
          </a:xfrm>
          <a:prstGeom prst="line">
            <a:avLst/>
          </a:prstGeom>
          <a:ln w="3175" cmpd="sng">
            <a:solidFill>
              <a:schemeClr val="bg1">
                <a:lumMod val="50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5" name="Picture 114">
            <a:hlinkClick r:id="rId3"/>
            <a:extLst>
              <a:ext uri="{FF2B5EF4-FFF2-40B4-BE49-F238E27FC236}">
                <a16:creationId xmlns:a16="http://schemas.microsoft.com/office/drawing/2014/main" id="{84CFFB08-2A0E-491B-B9FD-691F93B33F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44443"/>
            <a:ext cx="2671200" cy="223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4015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34466</TotalTime>
  <Words>906</Words>
  <Application>Microsoft Macintosh PowerPoint</Application>
  <PresentationFormat>On-screen Show (16:9)</PresentationFormat>
  <Paragraphs>136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Wingdings</vt:lpstr>
      <vt:lpstr>Office Theme</vt:lpstr>
      <vt:lpstr>PowerPoint Presentation</vt:lpstr>
    </vt:vector>
  </TitlesOfParts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Demand Metric Analysts</dc:creator>
  <cp:lastModifiedBy>Lisette Gomez</cp:lastModifiedBy>
  <cp:revision>1482</cp:revision>
  <dcterms:created xsi:type="dcterms:W3CDTF">2011-06-02T00:53:06Z</dcterms:created>
  <dcterms:modified xsi:type="dcterms:W3CDTF">2018-10-11T12:51:30Z</dcterms:modified>
</cp:coreProperties>
</file>